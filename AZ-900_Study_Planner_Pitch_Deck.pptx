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Barlow Semi-Bold" charset="1" panose="00000700000000000000"/>
      <p:regular r:id="rId22"/>
    </p:embeddedFont>
    <p:embeddedFont>
      <p:font typeface="Barlow Medium Italics" charset="1" panose="00000600000000000000"/>
      <p:regular r:id="rId23"/>
    </p:embeddedFont>
    <p:embeddedFont>
      <p:font typeface="Barlow" charset="1" panose="00000500000000000000"/>
      <p:regular r:id="rId24"/>
    </p:embeddedFont>
    <p:embeddedFont>
      <p:font typeface="Barlow Bold" charset="1" panose="00000800000000000000"/>
      <p:regular r:id="rId25"/>
    </p:embeddedFont>
    <p:embeddedFont>
      <p:font typeface="Barlow Medium" charset="1" panose="00000600000000000000"/>
      <p:regular r:id="rId26"/>
    </p:embeddedFont>
    <p:embeddedFont>
      <p:font typeface="Barlow Italics" charset="1" panose="00000500000000000000"/>
      <p:regular r:id="rId27"/>
    </p:embeddedFont>
    <p:embeddedFont>
      <p:font typeface="Garet" charset="1" panose="00000000000000000000"/>
      <p:regular r:id="rId28"/>
    </p:embeddedFont>
    <p:embeddedFont>
      <p:font typeface="Canva Sans" charset="1" panose="020B05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23.jpeg" Type="http://schemas.openxmlformats.org/officeDocument/2006/relationships/image"/><Relationship Id="rId4" Target="../media/image24.jpeg" Type="http://schemas.openxmlformats.org/officeDocument/2006/relationships/image"/><Relationship Id="rId5" Target="../media/image25.jpe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B6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52450"/>
            <a:ext cx="9601200" cy="11544300"/>
          </a:xfrm>
          <a:custGeom>
            <a:avLst/>
            <a:gdLst/>
            <a:ahLst/>
            <a:cxnLst/>
            <a:rect r="r" b="b" t="t" l="l"/>
            <a:pathLst>
              <a:path h="11544300" w="9601200">
                <a:moveTo>
                  <a:pt x="0" y="0"/>
                </a:moveTo>
                <a:lnTo>
                  <a:pt x="9601200" y="0"/>
                </a:lnTo>
                <a:lnTo>
                  <a:pt x="9601200" y="11544300"/>
                </a:lnTo>
                <a:lnTo>
                  <a:pt x="0" y="11544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5381" t="-2505" r="0" b="-1008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300000"/>
            <a:ext cx="6994911" cy="200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AZ-900 Study Planner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9257" y="9576600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true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01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110869" y="1593957"/>
            <a:ext cx="5621312" cy="7251486"/>
          </a:xfrm>
          <a:custGeom>
            <a:avLst/>
            <a:gdLst/>
            <a:ahLst/>
            <a:cxnLst/>
            <a:rect r="r" b="b" t="t" l="l"/>
            <a:pathLst>
              <a:path h="7251486" w="5621312">
                <a:moveTo>
                  <a:pt x="0" y="0"/>
                </a:moveTo>
                <a:lnTo>
                  <a:pt x="5621312" y="0"/>
                </a:lnTo>
                <a:lnTo>
                  <a:pt x="5621312" y="7251486"/>
                </a:lnTo>
                <a:lnTo>
                  <a:pt x="0" y="72514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682" t="0" r="-3581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3663" y="143884"/>
            <a:ext cx="1837509" cy="1837509"/>
          </a:xfrm>
          <a:custGeom>
            <a:avLst/>
            <a:gdLst/>
            <a:ahLst/>
            <a:cxnLst/>
            <a:rect r="r" b="b" t="t" l="l"/>
            <a:pathLst>
              <a:path h="1837509" w="1837509">
                <a:moveTo>
                  <a:pt x="0" y="0"/>
                </a:moveTo>
                <a:lnTo>
                  <a:pt x="1837510" y="0"/>
                </a:lnTo>
                <a:lnTo>
                  <a:pt x="1837510" y="1837510"/>
                </a:lnTo>
                <a:lnTo>
                  <a:pt x="0" y="18375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id="1001" name="Subtitle"/>
          <p:cNvSpPr txBox="1"/>
          <p:nvPr/>
        </p:nvSpPr>
        <p:spPr>
          <a:xfrm>
            <a:off x="1028700" y="5750000"/>
            <a:ext cx="6900000" cy="13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Know what to study, and when you're ready.</a:t>
            </a:r>
          </a:p>
        </p:txBody>
      </p:sp>
      <p:sp>
        <p:nvSpPr>
          <p:cNvPr id="1002" name="Unofficial note"/>
          <p:cNvSpPr txBox="1"/>
          <p:nvPr/>
        </p:nvSpPr>
        <p:spPr>
          <a:xfrm>
            <a:off x="1028700" y="7250000"/>
            <a:ext cx="6900000" cy="10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Unofficial study tool</a:t>
            </a:r>
          </a:p>
          <a:p>
            <a:pPr algn="l" marL="0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Vibe Coding Hackathon: AZ-900 Exam Prep Edition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2258270" y="-349930"/>
            <a:ext cx="7708159" cy="10986860"/>
          </a:xfrm>
          <a:prstGeom prst="rect">
            <a:avLst/>
          </a:prstGeom>
          <a:solidFill>
            <a:srgbClr val="0BB6BC"/>
          </a:solidFill>
        </p:spPr>
      </p:sp>
      <p:sp>
        <p:nvSpPr>
          <p:cNvPr name="Freeform 6" id="6"/>
          <p:cNvSpPr/>
          <p:nvPr/>
        </p:nvSpPr>
        <p:spPr>
          <a:xfrm flipH="false" flipV="false" rot="0">
            <a:off x="10663681" y="1028700"/>
            <a:ext cx="6595619" cy="8229600"/>
          </a:xfrm>
          <a:custGeom>
            <a:avLst/>
            <a:gdLst/>
            <a:ahLst/>
            <a:cxnLst/>
            <a:rect r="r" b="b" t="t" l="l"/>
            <a:pathLst>
              <a:path h="8229600" w="6595619">
                <a:moveTo>
                  <a:pt x="0" y="0"/>
                </a:moveTo>
                <a:lnTo>
                  <a:pt x="6595619" y="0"/>
                </a:lnTo>
                <a:lnTo>
                  <a:pt x="65956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108" r="0" b="-1010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02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29257" y="893789"/>
            <a:ext cx="1079292" cy="269823"/>
          </a:xfrm>
          <a:custGeom>
            <a:avLst/>
            <a:gdLst/>
            <a:ahLst/>
            <a:cxnLst/>
            <a:rect r="r" b="b" t="t" l="l"/>
            <a:pathLst>
              <a:path h="269823" w="1079292">
                <a:moveTo>
                  <a:pt x="0" y="0"/>
                </a:moveTo>
                <a:lnTo>
                  <a:pt x="1079292" y="0"/>
                </a:lnTo>
                <a:lnTo>
                  <a:pt x="1079292" y="269822"/>
                </a:lnTo>
                <a:lnTo>
                  <a:pt x="0" y="2698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03" name="Title"/>
          <p:cNvSpPr txBox="1"/>
          <p:nvPr/>
        </p:nvSpPr>
        <p:spPr>
          <a:xfrm>
            <a:off x="1028700" y="2600000"/>
            <a:ext cx="9500000" cy="127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The Problem</a:t>
            </a:r>
          </a:p>
        </p:txBody>
      </p:sp>
      <p:sp>
        <p:nvSpPr>
          <p:cNvPr id="1004" name="Problem points"/>
          <p:cNvSpPr txBox="1"/>
          <p:nvPr/>
        </p:nvSpPr>
        <p:spPr>
          <a:xfrm>
            <a:off x="1028700" y="4300000"/>
            <a:ext cx="9500000" cy="42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685800" indent="-685800">
              <a:lnSpc>
                <a:spcPts val="4600"/>
              </a:lnSpc>
              <a:spcBef>
                <a:spcPts val="0"/>
              </a:spcBef>
              <a:spcAft>
                <a:spcPts val="22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6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We kept mixing up Azure service names.</a:t>
            </a:r>
          </a:p>
          <a:p>
            <a:pPr algn="l" marL="685800" indent="-685800">
              <a:lnSpc>
                <a:spcPts val="4600"/>
              </a:lnSpc>
              <a:spcBef>
                <a:spcPts val="0"/>
              </a:spcBef>
              <a:spcAft>
                <a:spcPts val="22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6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We never knew if we were really ready.</a:t>
            </a:r>
          </a:p>
          <a:p>
            <a:pPr algn="l" marL="685800" indent="-685800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6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Learners know their exam date, but not how to plan the time before it.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44798"/>
            <a:ext cx="1059192" cy="1059192"/>
            <a:chOff x="0" y="0"/>
            <a:chExt cx="1412257" cy="141225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412257" cy="1412257"/>
              <a:chOff x="0" y="0"/>
              <a:chExt cx="6350000" cy="63500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90113E"/>
              </a:solid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474293" y="543843"/>
              <a:ext cx="463671" cy="324570"/>
            </a:xfrm>
            <a:custGeom>
              <a:avLst/>
              <a:gdLst/>
              <a:ahLst/>
              <a:cxnLst/>
              <a:rect r="r" b="b" t="t" l="l"/>
              <a:pathLst>
                <a:path h="324570" w="463671">
                  <a:moveTo>
                    <a:pt x="0" y="0"/>
                  </a:moveTo>
                  <a:lnTo>
                    <a:pt x="463671" y="0"/>
                  </a:lnTo>
                  <a:lnTo>
                    <a:pt x="463671" y="324570"/>
                  </a:lnTo>
                  <a:lnTo>
                    <a:pt x="0" y="324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625742"/>
            <a:ext cx="9571112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b="true" sz="8000" u="none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Our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03</a:t>
            </a:r>
          </a:p>
        </p:txBody>
      </p:sp>
      <p:sp>
        <p:nvSpPr>
          <p:cNvPr id="1005" name="Solution points"/>
          <p:cNvSpPr txBox="1"/>
          <p:nvPr/>
        </p:nvSpPr>
        <p:spPr>
          <a:xfrm>
            <a:off x="1028700" y="2500000"/>
            <a:ext cx="15800000" cy="60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685800" indent="-685800">
              <a:lnSpc>
                <a:spcPts val="4700"/>
              </a:lnSpc>
              <a:spcBef>
                <a:spcPts val="0"/>
              </a:spcBef>
              <a:spcAft>
                <a:spcPts val="20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6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Enter your exam date, daily study hours and how confident you feel in each exam area</a:t>
            </a:r>
          </a:p>
          <a:p>
            <a:pPr algn="l" marL="685800" indent="-685800">
              <a:lnSpc>
                <a:spcPts val="4700"/>
              </a:lnSpc>
              <a:spcBef>
                <a:spcPts val="0"/>
              </a:spcBef>
              <a:spcAft>
                <a:spcPts val="20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6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Get a day-by-day plan: weaker areas first, revision days at the end</a:t>
            </a:r>
          </a:p>
          <a:p>
            <a:pPr algn="l" marL="685800" indent="-685800">
              <a:lnSpc>
                <a:spcPts val="4700"/>
              </a:lnSpc>
              <a:spcBef>
                <a:spcPts val="0"/>
              </a:spcBef>
              <a:spcAft>
                <a:spcPts val="20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6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Tick off tasks and watch your progress and on-track status</a:t>
            </a:r>
          </a:p>
          <a:p>
            <a:pPr algn="l" marL="685800" indent="-685800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6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Tap "Explain this simply" for a short explanation with an everyday African example, in English or Kiswahili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31599" y="2656607"/>
            <a:ext cx="2651460" cy="5246370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DDF3F4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6159559" y="2656607"/>
            <a:ext cx="2651460" cy="5246370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DDF3F4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8700" y="667172"/>
            <a:ext cx="8663715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  <a:spcBef>
                <a:spcPct val="0"/>
              </a:spcBef>
            </a:pPr>
            <a:r>
              <a:rPr lang="en-US" b="true" sz="8100" u="none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Product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04</a:t>
            </a:r>
          </a:p>
        </p:txBody>
      </p:sp>
      <p:sp>
        <p:nvSpPr>
          <p:cNvPr id="1006" name="Phone label 1  Setup"/>
          <p:cNvSpPr txBox="1"/>
          <p:nvPr/>
        </p:nvSpPr>
        <p:spPr>
          <a:xfrm>
            <a:off x="1331599" y="4400000"/>
            <a:ext cx="2050000" cy="19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  Setup</a:t>
            </a:r>
          </a:p>
          <a:p>
            <a:pPr algn="ctr"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Exam date, hours and confidence</a:t>
            </a:r>
          </a:p>
        </p:txBody>
      </p:sp>
      <p:sp>
        <p:nvSpPr>
          <p:cNvPr id="1007" name="Phone label 2  Your plan"/>
          <p:cNvSpPr txBox="1"/>
          <p:nvPr/>
        </p:nvSpPr>
        <p:spPr>
          <a:xfrm>
            <a:off x="6459559" y="4400000"/>
            <a:ext cx="2050000" cy="19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  Your plan</a:t>
            </a:r>
          </a:p>
          <a:p>
            <a:pPr algn="ctr"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Daily tasks and progress</a:t>
            </a:r>
          </a:p>
        </p:txBody>
      </p:sp>
      <p:sp>
        <p:nvSpPr>
          <p:cNvPr id="1008" name="Product points"/>
          <p:cNvSpPr txBox="1"/>
          <p:nvPr/>
        </p:nvSpPr>
        <p:spPr>
          <a:xfrm>
            <a:off x="10300000" y="3000000"/>
            <a:ext cx="7000000" cy="50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685800" indent="-685800">
              <a:lnSpc>
                <a:spcPts val="4400"/>
              </a:lnSpc>
              <a:spcBef>
                <a:spcPts val="0"/>
              </a:spcBef>
              <a:spcAft>
                <a:spcPts val="18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4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Plan built from your exam date and confidence</a:t>
            </a:r>
          </a:p>
          <a:p>
            <a:pPr algn="l" marL="685800" indent="-685800">
              <a:lnSpc>
                <a:spcPts val="4400"/>
              </a:lnSpc>
              <a:spcBef>
                <a:spcPts val="0"/>
              </a:spcBef>
              <a:spcAft>
                <a:spcPts val="18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4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Tick tasks and track progress by exam area</a:t>
            </a:r>
          </a:p>
          <a:p>
            <a:pPr algn="l" marL="685800" indent="-685800">
              <a:lnSpc>
                <a:spcPts val="4400"/>
              </a:lnSpc>
              <a:spcBef>
                <a:spcPts val="0"/>
              </a:spcBef>
              <a:spcAft>
                <a:spcPts val="18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4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"Explain this simply" with African examples</a:t>
            </a:r>
          </a:p>
          <a:p>
            <a:pPr algn="l" marL="685800" indent="-685800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4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English or Kiswahili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4" id="14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8682" y="0"/>
            <a:ext cx="908275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b="true" sz="800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Target Users</a:t>
            </a:r>
          </a:p>
        </p:txBody>
      </p:sp>
      <p:sp>
        <p:nvSpPr>
          <p:cNvPr id="1009" name="Number 1"/>
          <p:cNvSpPr/>
          <p:nvPr/>
        </p:nvSpPr>
        <p:spPr>
          <a:xfrm>
            <a:off x="1300000" y="2800000"/>
            <a:ext cx="1500000" cy="1500000"/>
          </a:xfrm>
          <a:prstGeom prst="ellipse">
            <a:avLst/>
          </a:prstGeom>
          <a:solidFill>
            <a:srgbClr val="0BB6B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FFFFFF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</a:t>
            </a:r>
          </a:p>
        </p:txBody>
      </p:sp>
      <p:sp>
        <p:nvSpPr>
          <p:cNvPr id="1010" name="User type 1"/>
          <p:cNvSpPr txBox="1"/>
          <p:nvPr/>
        </p:nvSpPr>
        <p:spPr>
          <a:xfrm>
            <a:off x="3300000" y="2700000"/>
            <a:ext cx="13000000" cy="20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ts val="66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5600" b="1" dirty="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Students and graduates</a:t>
            </a:r>
          </a:p>
          <a:p>
            <a:pPr algn="l" marL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Preparing for their first cloud certification</a:t>
            </a:r>
          </a:p>
        </p:txBody>
      </p:sp>
      <p:sp>
        <p:nvSpPr>
          <p:cNvPr id="1011" name="Number 2"/>
          <p:cNvSpPr/>
          <p:nvPr/>
        </p:nvSpPr>
        <p:spPr>
          <a:xfrm>
            <a:off x="1300000" y="5200000"/>
            <a:ext cx="1500000" cy="1500000"/>
          </a:xfrm>
          <a:prstGeom prst="ellipse">
            <a:avLst/>
          </a:prstGeom>
          <a:solidFill>
            <a:srgbClr val="0BB6B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FFFFFF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</a:t>
            </a:r>
          </a:p>
        </p:txBody>
      </p:sp>
      <p:sp>
        <p:nvSpPr>
          <p:cNvPr id="1012" name="User type 2"/>
          <p:cNvSpPr txBox="1"/>
          <p:nvPr/>
        </p:nvSpPr>
        <p:spPr>
          <a:xfrm>
            <a:off x="3300000" y="5100000"/>
            <a:ext cx="13000000" cy="20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ts val="66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5600" b="1" dirty="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Career switchers</a:t>
            </a:r>
          </a:p>
          <a:p>
            <a:pPr algn="l" marL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Moving into cloud with limited time to study</a:t>
            </a:r>
          </a:p>
        </p:txBody>
      </p:sp>
      <p:sp>
        <p:nvSpPr>
          <p:cNvPr id="1013" name="Number 3"/>
          <p:cNvSpPr/>
          <p:nvPr/>
        </p:nvSpPr>
        <p:spPr>
          <a:xfrm>
            <a:off x="1300000" y="7600000"/>
            <a:ext cx="1500000" cy="1500000"/>
          </a:xfrm>
          <a:prstGeom prst="ellipse">
            <a:avLst/>
          </a:prstGeom>
          <a:solidFill>
            <a:srgbClr val="0BB6B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FFFFFF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3</a:t>
            </a:r>
          </a:p>
        </p:txBody>
      </p:sp>
      <p:sp>
        <p:nvSpPr>
          <p:cNvPr id="1014" name="User type 3"/>
          <p:cNvSpPr txBox="1"/>
          <p:nvPr/>
        </p:nvSpPr>
        <p:spPr>
          <a:xfrm>
            <a:off x="3300000" y="7500000"/>
            <a:ext cx="13000000" cy="20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ts val="66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5600" b="1" dirty="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Self-taught developers</a:t>
            </a:r>
          </a:p>
          <a:p>
            <a:pPr algn="l" marL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Learning Azure on their own, between work and life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4" id="4"/>
          <p:cNvSpPr txBox="true"/>
          <p:nvPr/>
        </p:nvSpPr>
        <p:spPr>
          <a:xfrm rot="0">
            <a:off x="1028700" y="622869"/>
            <a:ext cx="689673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Market Size</a:t>
            </a:r>
          </a:p>
        </p:txBody>
      </p:sp>
      <p:sp>
        <p:nvSpPr>
          <p:cNvPr id="1015" name="AZ-900 badge"/>
          <p:cNvSpPr/>
          <p:nvPr/>
        </p:nvSpPr>
        <p:spPr>
          <a:xfrm>
            <a:off x="11300000" y="2300000"/>
            <a:ext cx="5900000" cy="5900000"/>
          </a:xfrm>
          <a:prstGeom prst="ellipse">
            <a:avLst/>
          </a:prstGeom>
          <a:solidFill>
            <a:srgbClr val="0BB6B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lnSpc>
                <a:spcPts val="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7200" b="1" dirty="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AZ-900</a:t>
            </a:r>
          </a:p>
          <a:p>
            <a:pPr algn="ctr" marL="0" indent="0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dirty="0">
                <a:solidFill>
                  <a:srgbClr val="FFFFFF"/>
                </a:solidFill>
                <a:latin typeface="Barlow Medium"/>
                <a:ea typeface="Barlow Medium"/>
                <a:cs typeface="Barlow Medium"/>
                <a:sym typeface="Barlow Medium"/>
              </a:rPr>
              <a:t>Azure Fundamentals</a:t>
            </a:r>
          </a:p>
        </p:txBody>
      </p:sp>
      <p:sp>
        <p:nvSpPr>
          <p:cNvPr id="1016" name="Market points"/>
          <p:cNvSpPr txBox="1"/>
          <p:nvPr/>
        </p:nvSpPr>
        <p:spPr>
          <a:xfrm>
            <a:off x="1028700" y="2700000"/>
            <a:ext cx="9600000" cy="56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685800" indent="-685800">
              <a:lnSpc>
                <a:spcPts val="4600"/>
              </a:lnSpc>
              <a:spcBef>
                <a:spcPts val="0"/>
              </a:spcBef>
              <a:spcAft>
                <a:spcPts val="24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6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AZ-900 is an entry-level Azure certification.</a:t>
            </a:r>
          </a:p>
          <a:p>
            <a:pPr algn="l" marL="685800" indent="-685800">
              <a:lnSpc>
                <a:spcPts val="4600"/>
              </a:lnSpc>
              <a:spcBef>
                <a:spcPts val="0"/>
              </a:spcBef>
              <a:spcAft>
                <a:spcPts val="24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6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Our starting audience: learners in the 1 Million Devs community across Africa.</a:t>
            </a:r>
          </a:p>
          <a:p>
            <a:pPr algn="l" marL="685800" indent="-685800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6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Next step: size the audience with real enrolment and exam data.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03359" y="3971075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3" id="3"/>
          <p:cNvSpPr/>
          <p:nvPr/>
        </p:nvSpPr>
        <p:spPr>
          <a:xfrm rot="0">
            <a:off x="1703359" y="5158824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4" id="4"/>
          <p:cNvSpPr/>
          <p:nvPr/>
        </p:nvSpPr>
        <p:spPr>
          <a:xfrm rot="0">
            <a:off x="1703359" y="6346573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5" id="5"/>
          <p:cNvSpPr/>
          <p:nvPr/>
        </p:nvSpPr>
        <p:spPr>
          <a:xfrm rot="0">
            <a:off x="1703359" y="7534322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6" id="6"/>
          <p:cNvSpPr/>
          <p:nvPr/>
        </p:nvSpPr>
        <p:spPr>
          <a:xfrm rot="0"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0" y="0"/>
            <a:ext cx="6812379" cy="8998522"/>
            <a:chOff x="0" y="0"/>
            <a:chExt cx="6438900" cy="85051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38900" cy="8505190"/>
            </a:xfrm>
            <a:custGeom>
              <a:avLst/>
              <a:gdLst/>
              <a:ahLst/>
              <a:cxnLst/>
              <a:rect r="r" b="b" t="t" l="l"/>
              <a:pathLst>
                <a:path h="8505190" w="6438900">
                  <a:moveTo>
                    <a:pt x="4916170" y="8505190"/>
                  </a:moveTo>
                  <a:lnTo>
                    <a:pt x="4627880" y="8505190"/>
                  </a:lnTo>
                  <a:lnTo>
                    <a:pt x="0" y="8072120"/>
                  </a:lnTo>
                  <a:lnTo>
                    <a:pt x="0" y="4405630"/>
                  </a:lnTo>
                  <a:lnTo>
                    <a:pt x="910590" y="0"/>
                  </a:lnTo>
                  <a:lnTo>
                    <a:pt x="6438900" y="0"/>
                  </a:lnTo>
                  <a:lnTo>
                    <a:pt x="6438900" y="671830"/>
                  </a:lnTo>
                  <a:lnTo>
                    <a:pt x="4916170" y="8505190"/>
                  </a:lnTo>
                  <a:close/>
                </a:path>
              </a:pathLst>
            </a:custGeom>
            <a:blipFill>
              <a:blip r:embed="rId2"/>
              <a:stretch>
                <a:fillRect l="-65869" t="0" r="-6586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38900" cy="8505190"/>
            </a:xfrm>
            <a:custGeom>
              <a:avLst/>
              <a:gdLst/>
              <a:ahLst/>
              <a:cxnLst/>
              <a:rect r="r" b="b" t="t" l="l"/>
              <a:pathLst>
                <a:path h="8505190" w="6438900">
                  <a:moveTo>
                    <a:pt x="910590" y="0"/>
                  </a:moveTo>
                  <a:lnTo>
                    <a:pt x="1898650" y="289560"/>
                  </a:lnTo>
                  <a:lnTo>
                    <a:pt x="0" y="4405630"/>
                  </a:lnTo>
                  <a:lnTo>
                    <a:pt x="910590" y="0"/>
                  </a:lnTo>
                  <a:close/>
                  <a:moveTo>
                    <a:pt x="3253740" y="8047990"/>
                  </a:moveTo>
                  <a:lnTo>
                    <a:pt x="4916170" y="8505190"/>
                  </a:lnTo>
                  <a:lnTo>
                    <a:pt x="6438900" y="671830"/>
                  </a:lnTo>
                  <a:lnTo>
                    <a:pt x="3253740" y="8047990"/>
                  </a:lnTo>
                  <a:close/>
                </a:path>
              </a:pathLst>
            </a:custGeom>
            <a:solidFill>
              <a:srgbClr val="0BB6B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508761" y="257175"/>
            <a:ext cx="8750539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719"/>
              </a:lnSpc>
            </a:pPr>
            <a:r>
              <a:rPr lang="en-US" b="true" sz="8099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Competitors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07</a:t>
            </a:r>
          </a:p>
        </p:txBody>
      </p:sp>
      <p:sp>
        <p:nvSpPr>
          <p:cNvPr id="1017" name="Difference"/>
          <p:cNvSpPr txBox="1"/>
          <p:nvPr/>
        </p:nvSpPr>
        <p:spPr>
          <a:xfrm>
            <a:off x="8600000" y="1750000"/>
            <a:ext cx="9000000" cy="17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90113E"/>
                </a:solidFill>
                <a:latin typeface="Barlow Medium"/>
                <a:ea typeface="Barlow Medium"/>
                <a:cs typeface="Barlow Medium"/>
                <a:sym typeface="Barlow Medium"/>
              </a:rPr>
              <a:t>How we are different: </a:t>
            </a:r>
            <a:r>
              <a:rPr lang="en-US" sz="2800" b="0" dirty="0">
                <a:solidFill>
                  <a:srgbClr val="90113E"/>
                </a:solidFill>
                <a:latin typeface="Barlow Medium"/>
                <a:ea typeface="Barlow Medium"/>
                <a:cs typeface="Barlow Medium"/>
                <a:sym typeface="Barlow Medium"/>
              </a:rPr>
              <a:t>a plan built from your exam date and confidence, with African-life explanations.</a:t>
            </a:r>
          </a:p>
        </p:txBody>
      </p:sp>
      <p:sp>
        <p:nvSpPr>
          <p:cNvPr id="1018" name="Competitor 1"/>
          <p:cNvSpPr txBox="1"/>
          <p:nvPr/>
        </p:nvSpPr>
        <p:spPr>
          <a:xfrm>
            <a:off x="8600000" y="4051075"/>
            <a:ext cx="9000000" cy="45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Generic study planners: </a:t>
            </a:r>
            <a:r>
              <a:rPr lang="en-US" sz="26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not built around AZ-900</a:t>
            </a:r>
          </a:p>
        </p:txBody>
      </p:sp>
      <p:sp>
        <p:nvSpPr>
          <p:cNvPr id="1019" name="Competitor 2"/>
          <p:cNvSpPr txBox="1"/>
          <p:nvPr/>
        </p:nvSpPr>
        <p:spPr>
          <a:xfrm>
            <a:off x="8600000" y="5238824"/>
            <a:ext cx="9000000" cy="45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Practice tests: </a:t>
            </a:r>
            <a:r>
              <a:rPr lang="en-US" sz="26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strong on questions, light on plans</a:t>
            </a:r>
          </a:p>
        </p:txBody>
      </p:sp>
      <p:sp>
        <p:nvSpPr>
          <p:cNvPr id="1020" name="Competitor 3"/>
          <p:cNvSpPr txBox="1"/>
          <p:nvPr/>
        </p:nvSpPr>
        <p:spPr>
          <a:xfrm>
            <a:off x="8600000" y="6426573"/>
            <a:ext cx="9000000" cy="45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Video courses: </a:t>
            </a:r>
            <a:r>
              <a:rPr lang="en-US" sz="26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strong on teaching, not on scheduling</a:t>
            </a:r>
          </a:p>
        </p:txBody>
      </p:sp>
      <p:sp>
        <p:nvSpPr>
          <p:cNvPr id="1021" name="Competitor 4"/>
          <p:cNvSpPr txBox="1"/>
          <p:nvPr/>
        </p:nvSpPr>
        <p:spPr>
          <a:xfrm>
            <a:off x="8600000" y="7614322"/>
            <a:ext cx="9000000" cy="45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Microsoft Learn: </a:t>
            </a:r>
            <a:r>
              <a:rPr lang="en-US" sz="26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official content. We link to 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5" id="5"/>
          <p:cNvSpPr/>
          <p:nvPr/>
        </p:nvSpPr>
        <p:spPr>
          <a:xfrm rot="0"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6" id="6"/>
          <p:cNvSpPr/>
          <p:nvPr/>
        </p:nvSpPr>
        <p:spPr>
          <a:xfrm flipH="false" flipV="false" rot="0">
            <a:off x="-1902317" y="-84320"/>
            <a:ext cx="3804634" cy="10455640"/>
          </a:xfrm>
          <a:custGeom>
            <a:avLst/>
            <a:gdLst/>
            <a:ahLst/>
            <a:cxnLst/>
            <a:rect r="r" b="b" t="t" l="l"/>
            <a:pathLst>
              <a:path h="10455640" w="3804634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74813" b="0"/>
            </a:stretch>
          </a:blipFill>
        </p:spPr>
      </p:sp>
      <p:sp>
        <p:nvSpPr>
          <p:cNvPr id="1022" name="Title"/>
          <p:cNvSpPr txBox="1"/>
          <p:nvPr/>
        </p:nvSpPr>
        <p:spPr>
          <a:xfrm>
            <a:off x="2382668" y="667172"/>
            <a:ext cx="14500000" cy="127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Competitive Advantage</a:t>
            </a:r>
          </a:p>
        </p:txBody>
      </p:sp>
      <p:sp>
        <p:nvSpPr>
          <p:cNvPr id="1023" name="Advantage points"/>
          <p:cNvSpPr txBox="1"/>
          <p:nvPr/>
        </p:nvSpPr>
        <p:spPr>
          <a:xfrm>
            <a:off x="2382668" y="2700000"/>
            <a:ext cx="14500000" cy="60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685800" indent="-685800">
              <a:lnSpc>
                <a:spcPts val="4500"/>
              </a:lnSpc>
              <a:spcBef>
                <a:spcPts val="0"/>
              </a:spcBef>
              <a:spcAft>
                <a:spcPts val="20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Rule-based planner: </a:t>
            </a:r>
            <a:r>
              <a:rPr lang="en-US" sz="34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dates are always right. AI never builds the schedule.</a:t>
            </a:r>
          </a:p>
          <a:p>
            <a:pPr algn="l" marL="685800" indent="-685800">
              <a:lnSpc>
                <a:spcPts val="4500"/>
              </a:lnSpc>
              <a:spcBef>
                <a:spcPts val="0"/>
              </a:spcBef>
              <a:spcAft>
                <a:spcPts val="20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AI that explains simply: </a:t>
            </a:r>
            <a:r>
              <a:rPr lang="en-US" sz="34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everyday African examples, in English or Kiswahili.</a:t>
            </a:r>
          </a:p>
          <a:p>
            <a:pPr algn="l" marL="685800" indent="-685800">
              <a:lnSpc>
                <a:spcPts val="4500"/>
              </a:lnSpc>
              <a:spcBef>
                <a:spcPts val="0"/>
              </a:spcBef>
              <a:spcAft>
                <a:spcPts val="20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Offline fallback: </a:t>
            </a:r>
            <a:r>
              <a:rPr lang="en-US" sz="34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pre-written explanations if the AI is unavailable.</a:t>
            </a:r>
          </a:p>
          <a:p>
            <a:pPr algn="l" marL="685800" indent="-685800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Built to grow: </a:t>
            </a:r>
            <a:r>
              <a:rPr lang="en-US" sz="34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topics are data, so new exams can follow.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03359" y="3971075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3" id="3"/>
          <p:cNvSpPr/>
          <p:nvPr/>
        </p:nvSpPr>
        <p:spPr>
          <a:xfrm rot="0">
            <a:off x="1703359" y="5158824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4" id="4"/>
          <p:cNvSpPr/>
          <p:nvPr/>
        </p:nvSpPr>
        <p:spPr>
          <a:xfrm rot="0">
            <a:off x="1703359" y="6346573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5" id="5"/>
          <p:cNvSpPr/>
          <p:nvPr/>
        </p:nvSpPr>
        <p:spPr>
          <a:xfrm rot="0">
            <a:off x="1703359" y="7534322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name="AutoShape 6" id="6"/>
          <p:cNvSpPr/>
          <p:nvPr/>
        </p:nvSpPr>
        <p:spPr>
          <a:xfrm rot="0">
            <a:off x="1703359" y="3357575"/>
            <a:ext cx="14881282" cy="0"/>
          </a:xfrm>
          <a:prstGeom prst="line">
            <a:avLst/>
          </a:prstGeom>
          <a:ln cap="flat" w="19050">
            <a:solidFill>
              <a:srgbClr val="9011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0">
            <a:off x="1703359" y="8136464"/>
            <a:ext cx="14881282" cy="0"/>
          </a:xfrm>
          <a:prstGeom prst="line">
            <a:avLst/>
          </a:prstGeom>
          <a:ln cap="flat" w="19050">
            <a:solidFill>
              <a:srgbClr val="9011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0">
            <a:off x="8659450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9" id="9"/>
          <p:cNvSpPr/>
          <p:nvPr/>
        </p:nvSpPr>
        <p:spPr>
          <a:xfrm rot="0">
            <a:off x="6673531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6913736" y="2694518"/>
            <a:ext cx="1524842" cy="39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Day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75969" y="2694518"/>
            <a:ext cx="1316017" cy="39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Day 2</a:t>
            </a:r>
          </a:p>
        </p:txBody>
      </p:sp>
      <p:sp>
        <p:nvSpPr>
          <p:cNvPr name="AutoShape 12" id="12"/>
          <p:cNvSpPr/>
          <p:nvPr/>
        </p:nvSpPr>
        <p:spPr>
          <a:xfrm rot="0">
            <a:off x="10645368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11029376" y="2694518"/>
            <a:ext cx="1316017" cy="39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Day 3</a:t>
            </a:r>
          </a:p>
        </p:txBody>
      </p:sp>
      <p:sp>
        <p:nvSpPr>
          <p:cNvPr name="AutoShape 14" id="14"/>
          <p:cNvSpPr/>
          <p:nvPr/>
        </p:nvSpPr>
        <p:spPr>
          <a:xfrm rot="0">
            <a:off x="12631287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15" id="15"/>
          <p:cNvSpPr/>
          <p:nvPr/>
        </p:nvSpPr>
        <p:spPr>
          <a:xfrm rot="0">
            <a:off x="14612169" y="2467083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16" id="16"/>
          <p:cNvSpPr txBox="true"/>
          <p:nvPr/>
        </p:nvSpPr>
        <p:spPr>
          <a:xfrm rot="0">
            <a:off x="12982784" y="2694518"/>
            <a:ext cx="1316017" cy="39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Day 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36191" y="2694518"/>
            <a:ext cx="1316017" cy="39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Next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68802" y="2696086"/>
            <a:ext cx="437069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Tasks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97743" y="3419744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Agree plan and data contract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97743" y="4022985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Database and plan logic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97743" y="4626226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Screens and interface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97743" y="5229466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Topics and explanations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97743" y="5832707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AI explanations and fallback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97743" y="6435948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Connect, test and fix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97743" y="7039189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README, deck and demo video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97743" y="7642429"/>
            <a:ext cx="4441750" cy="39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Submit, then grow</a:t>
            </a:r>
          </a:p>
        </p:txBody>
      </p:sp>
      <p:sp>
        <p:nvSpPr>
          <p:cNvPr name="AutoShape 27" id="27"/>
          <p:cNvSpPr/>
          <p:nvPr/>
        </p:nvSpPr>
        <p:spPr>
          <a:xfrm rot="0">
            <a:off x="6713531" y="3424302"/>
            <a:ext cx="1906000" cy="0"/>
          </a:xfrm>
          <a:prstGeom prst="line">
            <a:avLst/>
          </a:prstGeom>
          <a:ln cap="flat" w="485775">
            <a:solidFill>
              <a:srgbClr val="9011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rot="0">
            <a:off x="6713531" y="4027543"/>
            <a:ext cx="3892000" cy="0"/>
          </a:xfrm>
          <a:prstGeom prst="line">
            <a:avLst/>
          </a:prstGeom>
          <a:ln cap="flat" w="485775">
            <a:solidFill>
              <a:srgbClr val="0BB6B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 rot="0">
            <a:off x="6713531" y="4603308"/>
            <a:ext cx="3892000" cy="0"/>
          </a:xfrm>
          <a:prstGeom prst="line">
            <a:avLst/>
          </a:prstGeom>
          <a:ln cap="flat" w="485775">
            <a:solidFill>
              <a:srgbClr val="FF66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rot="0">
            <a:off x="10685368" y="6402324"/>
            <a:ext cx="3892000" cy="0"/>
          </a:xfrm>
          <a:prstGeom prst="line">
            <a:avLst/>
          </a:prstGeom>
          <a:ln cap="flat" w="485775">
            <a:solidFill>
              <a:srgbClr val="0831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rot="0">
            <a:off x="10685368" y="6996645"/>
            <a:ext cx="3892000" cy="0"/>
          </a:xfrm>
          <a:prstGeom prst="line">
            <a:avLst/>
          </a:prstGeom>
          <a:ln cap="flat" w="485775">
            <a:solidFill>
              <a:srgbClr val="CF6E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rot="0">
            <a:off x="12671287" y="7590073"/>
            <a:ext cx="3892000" cy="0"/>
          </a:xfrm>
          <a:prstGeom prst="line">
            <a:avLst/>
          </a:prstGeom>
          <a:ln cap="flat" w="485775">
            <a:solidFill>
              <a:srgbClr val="FF57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rot="0">
            <a:off x="6713531" y="5214576"/>
            <a:ext cx="5878000" cy="0"/>
          </a:xfrm>
          <a:prstGeom prst="line">
            <a:avLst/>
          </a:prstGeom>
          <a:ln cap="flat" w="485775">
            <a:solidFill>
              <a:srgbClr val="FFDE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rot="0">
            <a:off x="8699450" y="5809789"/>
            <a:ext cx="3892000" cy="0"/>
          </a:xfrm>
          <a:prstGeom prst="line">
            <a:avLst/>
          </a:prstGeom>
          <a:ln cap="flat" w="485775">
            <a:solidFill>
              <a:srgbClr val="00BF6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1703359" y="343008"/>
            <a:ext cx="14733814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b="true" sz="800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Build Timeline</a:t>
            </a:r>
          </a:p>
        </p:txBody>
      </p:sp>
      <p:sp>
        <p:nvSpPr>
          <p:cNvPr name="AutoShape 36" id="36"/>
          <p:cNvSpPr/>
          <p:nvPr/>
        </p:nvSpPr>
        <p:spPr>
          <a:xfrm rot="0"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TextBox 37" id="37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341197" cy="10287000"/>
            <a:chOff x="0" y="0"/>
            <a:chExt cx="12454930" cy="13716000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2454930" cy="13716000"/>
            </a:xfrm>
            <a:prstGeom prst="rect">
              <a:avLst/>
            </a:prstGeom>
            <a:solidFill>
              <a:srgbClr val="0BB6B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2583708"/>
            <a:ext cx="6200420" cy="6200420"/>
          </a:xfrm>
          <a:custGeom>
            <a:avLst/>
            <a:gdLst/>
            <a:ahLst/>
            <a:cxnLst/>
            <a:rect r="r" b="b" t="t" l="l"/>
            <a:pathLst>
              <a:path h="6200420" w="6200420">
                <a:moveTo>
                  <a:pt x="0" y="0"/>
                </a:moveTo>
                <a:lnTo>
                  <a:pt x="6200420" y="0"/>
                </a:lnTo>
                <a:lnTo>
                  <a:pt x="6200420" y="6200420"/>
                </a:lnTo>
                <a:lnTo>
                  <a:pt x="0" y="6200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04813"/>
            <a:ext cx="80000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</a:pPr>
            <a:r>
              <a:rPr lang="en-US" b="true" sz="720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Business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10</a:t>
            </a:r>
          </a:p>
        </p:txBody>
      </p:sp>
      <p:sp>
        <p:nvSpPr>
          <p:cNvPr id="1024" name="Business points"/>
          <p:cNvSpPr txBox="1"/>
          <p:nvPr/>
        </p:nvSpPr>
        <p:spPr>
          <a:xfrm>
            <a:off x="9900000" y="2900000"/>
            <a:ext cx="6900000" cy="56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ts val="4600"/>
              </a:lnSpc>
              <a:spcBef>
                <a:spcPts val="0"/>
              </a:spcBef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Free for learners today.</a:t>
            </a:r>
          </a:p>
          <a:p>
            <a:pPr algn="l" marL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Ideas for later (not built yet): partnerships with training providers, sponsored study cohorts, and extra practice content.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1902317" y="-84320"/>
            <a:ext cx="3804634" cy="10455640"/>
          </a:xfrm>
          <a:custGeom>
            <a:avLst/>
            <a:gdLst/>
            <a:ahLst/>
            <a:cxnLst/>
            <a:rect r="r" b="b" t="t" l="l"/>
            <a:pathLst>
              <a:path h="10455640" w="3804634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7481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82668" y="667172"/>
            <a:ext cx="1394463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</a:pPr>
            <a:r>
              <a:rPr lang="en-US" b="true" sz="810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Go To Market</a:t>
            </a:r>
          </a:p>
        </p:txBody>
      </p:sp>
      <p:sp>
        <p:nvSpPr>
          <p:cNvPr id="1025" name="Go to market points"/>
          <p:cNvSpPr txBox="1"/>
          <p:nvPr/>
        </p:nvSpPr>
        <p:spPr>
          <a:xfrm>
            <a:off x="2382668" y="2700000"/>
            <a:ext cx="14500000" cy="60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685800" indent="-685800">
              <a:lnSpc>
                <a:spcPts val="4700"/>
              </a:lnSpc>
              <a:spcBef>
                <a:spcPts val="0"/>
              </a:spcBef>
              <a:spcAft>
                <a:spcPts val="22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6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Share the live link in the 1 Million Devs community</a:t>
            </a:r>
          </a:p>
          <a:p>
            <a:pPr algn="l" marL="685800" indent="-685800">
              <a:lnSpc>
                <a:spcPts val="4700"/>
              </a:lnSpc>
              <a:spcBef>
                <a:spcPts val="0"/>
              </a:spcBef>
              <a:spcAft>
                <a:spcPts val="22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6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WhatsApp and Telegram study groups for AZ-900 learners</a:t>
            </a:r>
          </a:p>
          <a:p>
            <a:pPr algn="l" marL="685800" indent="-685800">
              <a:lnSpc>
                <a:spcPts val="4700"/>
              </a:lnSpc>
              <a:spcBef>
                <a:spcPts val="0"/>
              </a:spcBef>
              <a:spcAft>
                <a:spcPts val="22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6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Campus tech clubs and community meetups</a:t>
            </a:r>
          </a:p>
          <a:p>
            <a:pPr algn="l" marL="685800" indent="-685800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6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Learners invite their study partners to use it too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3" id="3"/>
          <p:cNvSpPr/>
          <p:nvPr/>
        </p:nvSpPr>
        <p:spPr>
          <a:xfrm flipH="false" flipV="false" rot="0">
            <a:off x="-1902317" y="-84320"/>
            <a:ext cx="3804634" cy="10455640"/>
          </a:xfrm>
          <a:custGeom>
            <a:avLst/>
            <a:gdLst/>
            <a:ahLst/>
            <a:cxnLst/>
            <a:rect r="r" b="b" t="t" l="l"/>
            <a:pathLst>
              <a:path h="10455640" w="3804634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17481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82668" y="667172"/>
            <a:ext cx="13944632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</a:pPr>
            <a:r>
              <a:rPr lang="en-US" b="true" sz="810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Social Impact</a:t>
            </a:r>
          </a:p>
        </p:txBody>
      </p:sp>
      <p:sp>
        <p:nvSpPr>
          <p:cNvPr id="1026" name="Impact points"/>
          <p:cNvSpPr txBox="1"/>
          <p:nvPr/>
        </p:nvSpPr>
        <p:spPr>
          <a:xfrm>
            <a:off x="2382668" y="2700000"/>
            <a:ext cx="14500000" cy="62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685800" indent="-685800">
              <a:lnSpc>
                <a:spcPts val="4500"/>
              </a:lnSpc>
              <a:spcBef>
                <a:spcPts val="0"/>
              </a:spcBef>
              <a:spcAft>
                <a:spcPts val="22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SDG 4, Quality Education: </a:t>
            </a:r>
            <a:r>
              <a:rPr lang="en-US" sz="34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free, structured exam preparation.</a:t>
            </a:r>
          </a:p>
          <a:p>
            <a:pPr algn="l" marL="685800" indent="-685800">
              <a:lnSpc>
                <a:spcPts val="4500"/>
              </a:lnSpc>
              <a:spcBef>
                <a:spcPts val="0"/>
              </a:spcBef>
              <a:spcAft>
                <a:spcPts val="22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SDG 8, Decent Work and Economic Growth: </a:t>
            </a:r>
            <a:r>
              <a:rPr lang="en-US" sz="34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a step toward a recognised cloud credential.</a:t>
            </a:r>
          </a:p>
          <a:p>
            <a:pPr algn="l" marL="685800" indent="-685800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Clr>
                <a:srgbClr val="0BB6BC"/>
              </a:buClr>
              <a:buFont typeface="Arial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SDG 10, Reduced Inequalities: </a:t>
            </a:r>
            <a:r>
              <a:rPr lang="en-US" sz="34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mobile-first, lightweight, with a Kiswahili option.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3" id="3"/>
          <p:cNvSpPr txBox="true"/>
          <p:nvPr/>
        </p:nvSpPr>
        <p:spPr>
          <a:xfrm rot="0">
            <a:off x="1028700" y="657822"/>
            <a:ext cx="689673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20"/>
              </a:lnSpc>
              <a:spcBef>
                <a:spcPct val="0"/>
              </a:spcBef>
            </a:pPr>
            <a:r>
              <a:rPr lang="en-US" b="true" sz="810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Our Ask</a:t>
            </a:r>
          </a:p>
        </p:txBody>
      </p:sp>
      <p:sp>
        <p:nvSpPr>
          <p:cNvPr id="1027" name="Ask points"/>
          <p:cNvSpPr txBox="1"/>
          <p:nvPr/>
        </p:nvSpPr>
        <p:spPr>
          <a:xfrm>
            <a:off x="1028700" y="2600000"/>
            <a:ext cx="15800000" cy="55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685800" indent="-685800">
              <a:lnSpc>
                <a:spcPts val="5600"/>
              </a:lnSpc>
              <a:spcBef>
                <a:spcPts val="0"/>
              </a:spcBef>
              <a:spcAft>
                <a:spcPts val="28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44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Feedback from judges and AZ-900 learners</a:t>
            </a:r>
          </a:p>
          <a:p>
            <a:pPr algn="l" marL="685800" indent="-685800">
              <a:lnSpc>
                <a:spcPts val="5600"/>
              </a:lnSpc>
              <a:spcBef>
                <a:spcPts val="0"/>
              </a:spcBef>
              <a:spcAft>
                <a:spcPts val="2800"/>
              </a:spcAft>
              <a:buClr>
                <a:srgbClr val="0BB6BC"/>
              </a:buClr>
              <a:buFont typeface="Arial"/>
              <a:buChar char="•"/>
            </a:pPr>
            <a:r>
              <a:rPr lang="en-US" sz="44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Mentorship to add more certifications and languages</a:t>
            </a:r>
          </a:p>
          <a:p>
            <a:pPr algn="l" marL="685800" indent="-685800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>
                <a:srgbClr val="0BB6BC"/>
              </a:buClr>
              <a:buFont typeface="Arial"/>
              <a:buChar char="•"/>
            </a:pPr>
            <a:r>
              <a:rPr lang="en-US" sz="4400" b="0" dirty="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Early testers from the community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5" id="25"/>
          <p:cNvSpPr/>
          <p:nvPr/>
        </p:nvSpPr>
        <p:spPr>
          <a:xfrm rot="0"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name="Freeform 26" id="26"/>
          <p:cNvSpPr/>
          <p:nvPr/>
        </p:nvSpPr>
        <p:spPr>
          <a:xfrm flipH="false" flipV="false" rot="0">
            <a:off x="-1902317" y="-84320"/>
            <a:ext cx="3804634" cy="10455640"/>
          </a:xfrm>
          <a:custGeom>
            <a:avLst/>
            <a:gdLst/>
            <a:ahLst/>
            <a:cxnLst/>
            <a:rect r="r" b="b" t="t" l="l"/>
            <a:pathLst>
              <a:path h="10455640" w="3804634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174813" b="0"/>
            </a:stretch>
          </a:blipFill>
        </p:spPr>
      </p:sp>
      <p:sp>
        <p:nvSpPr>
          <p:cNvPr id="1028" name="Title"/>
          <p:cNvSpPr txBox="1"/>
          <p:nvPr/>
        </p:nvSpPr>
        <p:spPr>
          <a:xfrm>
            <a:off x="2382668" y="667172"/>
            <a:ext cx="14500000" cy="127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ts val="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dirty="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Team Members</a:t>
            </a:r>
          </a:p>
        </p:txBody>
      </p:sp>
      <p:sp>
        <p:nvSpPr>
          <p:cNvPr id="1029" name="Team subtitle"/>
          <p:cNvSpPr txBox="1"/>
          <p:nvPr/>
        </p:nvSpPr>
        <p:spPr>
          <a:xfrm>
            <a:off x="2382668" y="2150000"/>
            <a:ext cx="14500000" cy="7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90113E"/>
                </a:solidFill>
                <a:latin typeface="Barlow Medium"/>
                <a:ea typeface="Barlow Medium"/>
                <a:cs typeface="Barlow Medium"/>
                <a:sym typeface="Barlow Medium"/>
              </a:rPr>
              <a:t>The people behind the planner</a:t>
            </a:r>
          </a:p>
        </p:txBody>
      </p:sp>
      <p:sp>
        <p:nvSpPr>
          <p:cNvPr id="1030" name="Avatar VICTOR"/>
          <p:cNvSpPr/>
          <p:nvPr/>
        </p:nvSpPr>
        <p:spPr>
          <a:xfrm>
            <a:off x="3105725" y="4300000"/>
            <a:ext cx="2637502" cy="2637502"/>
          </a:xfrm>
          <a:prstGeom prst="ellipse">
            <a:avLst/>
          </a:prstGeom>
          <a:solidFill>
            <a:srgbClr val="0BB6B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lnSpc>
                <a:spcPts val="1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dirty="0">
                <a:solidFill>
                  <a:srgbClr val="FFFFFF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V</a:t>
            </a:r>
          </a:p>
        </p:txBody>
      </p:sp>
      <p:sp>
        <p:nvSpPr>
          <p:cNvPr id="1031" name="Name VICTOR"/>
          <p:cNvSpPr txBox="1"/>
          <p:nvPr/>
        </p:nvSpPr>
        <p:spPr>
          <a:xfrm>
            <a:off x="2674476" y="7150000"/>
            <a:ext cx="3500000" cy="6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VICTOR</a:t>
            </a:r>
          </a:p>
        </p:txBody>
      </p:sp>
      <p:sp>
        <p:nvSpPr>
          <p:cNvPr id="1032" name="Role VICTOR"/>
          <p:cNvSpPr txBox="1"/>
          <p:nvPr/>
        </p:nvSpPr>
        <p:spPr>
          <a:xfrm>
            <a:off x="2724476" y="7800000"/>
            <a:ext cx="3400000" cy="12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Frontend and integration</a:t>
            </a:r>
          </a:p>
        </p:txBody>
      </p:sp>
      <p:sp>
        <p:nvSpPr>
          <p:cNvPr id="1033" name="Avatar NATHALIE"/>
          <p:cNvSpPr/>
          <p:nvPr/>
        </p:nvSpPr>
        <p:spPr>
          <a:xfrm>
            <a:off x="6735815" y="4300000"/>
            <a:ext cx="2637502" cy="2637502"/>
          </a:xfrm>
          <a:prstGeom prst="ellipse">
            <a:avLst/>
          </a:prstGeom>
          <a:solidFill>
            <a:srgbClr val="0BB6B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lnSpc>
                <a:spcPts val="1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dirty="0">
                <a:solidFill>
                  <a:srgbClr val="FFFFFF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N</a:t>
            </a:r>
          </a:p>
        </p:txBody>
      </p:sp>
      <p:sp>
        <p:nvSpPr>
          <p:cNvPr id="1034" name="Name NATHALIE"/>
          <p:cNvSpPr txBox="1"/>
          <p:nvPr/>
        </p:nvSpPr>
        <p:spPr>
          <a:xfrm>
            <a:off x="6304566" y="7150000"/>
            <a:ext cx="3500000" cy="6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NATHALIE</a:t>
            </a:r>
          </a:p>
        </p:txBody>
      </p:sp>
      <p:sp>
        <p:nvSpPr>
          <p:cNvPr id="1035" name="Role NATHALIE"/>
          <p:cNvSpPr txBox="1"/>
          <p:nvPr/>
        </p:nvSpPr>
        <p:spPr>
          <a:xfrm>
            <a:off x="6354566" y="7800000"/>
            <a:ext cx="3400000" cy="12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Planner, database, pitch and docs</a:t>
            </a:r>
          </a:p>
        </p:txBody>
      </p:sp>
      <p:sp>
        <p:nvSpPr>
          <p:cNvPr id="1036" name="Avatar MARK"/>
          <p:cNvSpPr/>
          <p:nvPr/>
        </p:nvSpPr>
        <p:spPr>
          <a:xfrm>
            <a:off x="10365905" y="4300000"/>
            <a:ext cx="2637502" cy="2637502"/>
          </a:xfrm>
          <a:prstGeom prst="ellipse">
            <a:avLst/>
          </a:prstGeom>
          <a:solidFill>
            <a:srgbClr val="0BB6B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lnSpc>
                <a:spcPts val="1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dirty="0">
                <a:solidFill>
                  <a:srgbClr val="FFFFFF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M</a:t>
            </a:r>
          </a:p>
        </p:txBody>
      </p:sp>
      <p:sp>
        <p:nvSpPr>
          <p:cNvPr id="1037" name="Name MARK"/>
          <p:cNvSpPr txBox="1"/>
          <p:nvPr/>
        </p:nvSpPr>
        <p:spPr>
          <a:xfrm>
            <a:off x="9934656" y="7150000"/>
            <a:ext cx="3500000" cy="6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MARK</a:t>
            </a:r>
          </a:p>
        </p:txBody>
      </p:sp>
      <p:sp>
        <p:nvSpPr>
          <p:cNvPr id="1038" name="Role MARK"/>
          <p:cNvSpPr txBox="1"/>
          <p:nvPr/>
        </p:nvSpPr>
        <p:spPr>
          <a:xfrm>
            <a:off x="9984656" y="7800000"/>
            <a:ext cx="3400000" cy="12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AI and prompt engineering</a:t>
            </a:r>
          </a:p>
        </p:txBody>
      </p:sp>
      <p:sp>
        <p:nvSpPr>
          <p:cNvPr id="1039" name="Avatar GEORGE"/>
          <p:cNvSpPr/>
          <p:nvPr/>
        </p:nvSpPr>
        <p:spPr>
          <a:xfrm>
            <a:off x="13995995" y="4300000"/>
            <a:ext cx="2637502" cy="2637502"/>
          </a:xfrm>
          <a:prstGeom prst="ellipse">
            <a:avLst/>
          </a:prstGeom>
          <a:solidFill>
            <a:srgbClr val="0BB6B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 marL="0" indent="0">
              <a:lnSpc>
                <a:spcPts val="10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dirty="0">
                <a:solidFill>
                  <a:srgbClr val="FFFFFF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G</a:t>
            </a:r>
          </a:p>
        </p:txBody>
      </p:sp>
      <p:sp>
        <p:nvSpPr>
          <p:cNvPr id="1040" name="Name GEORGE"/>
          <p:cNvSpPr txBox="1"/>
          <p:nvPr/>
        </p:nvSpPr>
        <p:spPr>
          <a:xfrm>
            <a:off x="13564746" y="7150000"/>
            <a:ext cx="3500000" cy="6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GEORGE</a:t>
            </a:r>
          </a:p>
        </p:txBody>
      </p:sp>
      <p:sp>
        <p:nvSpPr>
          <p:cNvPr id="1041" name="Role GEORGE"/>
          <p:cNvSpPr txBox="1"/>
          <p:nvPr/>
        </p:nvSpPr>
        <p:spPr>
          <a:xfrm>
            <a:off x="13614746" y="7800000"/>
            <a:ext cx="3400000" cy="12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Content and AZ-900 topics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34634" y="-84320"/>
            <a:ext cx="10455640" cy="10455640"/>
          </a:xfrm>
          <a:custGeom>
            <a:avLst/>
            <a:gdLst/>
            <a:ahLst/>
            <a:cxnLst/>
            <a:rect r="r" b="b" t="t" l="l"/>
            <a:pathLst>
              <a:path h="10455640" w="10455640">
                <a:moveTo>
                  <a:pt x="0" y="0"/>
                </a:moveTo>
                <a:lnTo>
                  <a:pt x="10455640" y="0"/>
                </a:lnTo>
                <a:lnTo>
                  <a:pt x="10455640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92730" y="1028700"/>
            <a:ext cx="2793363" cy="1396681"/>
          </a:xfrm>
          <a:custGeom>
            <a:avLst/>
            <a:gdLst/>
            <a:ahLst/>
            <a:cxnLst/>
            <a:rect r="r" b="b" t="t" l="l"/>
            <a:pathLst>
              <a:path h="1396681" w="2793363">
                <a:moveTo>
                  <a:pt x="0" y="0"/>
                </a:moveTo>
                <a:lnTo>
                  <a:pt x="2793363" y="0"/>
                </a:lnTo>
                <a:lnTo>
                  <a:pt x="2793363" y="1396681"/>
                </a:lnTo>
                <a:lnTo>
                  <a:pt x="0" y="1396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2825260" y="6798102"/>
            <a:ext cx="2438400" cy="2438400"/>
          </a:xfrm>
          <a:custGeom>
            <a:avLst/>
            <a:gdLst/>
            <a:ahLst/>
            <a:cxnLst/>
            <a:rect r="r" b="b" t="t" l="l"/>
            <a:pathLst>
              <a:path h="2438400" w="2438400">
                <a:moveTo>
                  <a:pt x="2438400" y="0"/>
                </a:moveTo>
                <a:lnTo>
                  <a:pt x="0" y="0"/>
                </a:lnTo>
                <a:lnTo>
                  <a:pt x="0" y="2438400"/>
                </a:lnTo>
                <a:lnTo>
                  <a:pt x="2438400" y="2438400"/>
                </a:lnTo>
                <a:lnTo>
                  <a:pt x="24384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9257" y="893789"/>
            <a:ext cx="1079292" cy="269823"/>
          </a:xfrm>
          <a:custGeom>
            <a:avLst/>
            <a:gdLst/>
            <a:ahLst/>
            <a:cxnLst/>
            <a:rect r="r" b="b" t="t" l="l"/>
            <a:pathLst>
              <a:path h="269823" w="1079292">
                <a:moveTo>
                  <a:pt x="0" y="0"/>
                </a:moveTo>
                <a:lnTo>
                  <a:pt x="1079292" y="0"/>
                </a:lnTo>
                <a:lnTo>
                  <a:pt x="1079292" y="269822"/>
                </a:lnTo>
                <a:lnTo>
                  <a:pt x="0" y="2698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050357" y="9484941"/>
            <a:ext cx="798886" cy="34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true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15</a:t>
            </a:r>
          </a:p>
        </p:txBody>
      </p:sp>
      <p:sp>
        <p:nvSpPr>
          <p:cNvPr id="1042" name="Thank you"/>
          <p:cNvSpPr txBox="1"/>
          <p:nvPr/>
        </p:nvSpPr>
        <p:spPr>
          <a:xfrm>
            <a:off x="9300000" y="3300000"/>
            <a:ext cx="8200000" cy="20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lnSpc>
                <a:spcPts val="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1" dirty="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Thank you!</a:t>
            </a:r>
          </a:p>
        </p:txBody>
      </p:sp>
      <p:sp>
        <p:nvSpPr>
          <p:cNvPr id="1043" name="Closing details"/>
          <p:cNvSpPr txBox="1"/>
          <p:nvPr/>
        </p:nvSpPr>
        <p:spPr>
          <a:xfrm>
            <a:off x="9300000" y="5500000"/>
            <a:ext cx="8200000" cy="32000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lnSpc>
                <a:spcPts val="42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AZ-900 Study Planner</a:t>
            </a:r>
          </a:p>
          <a:p>
            <a:pPr algn="ctr" marL="0" indent="0">
              <a:lnSpc>
                <a:spcPts val="37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8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Live prototype and GitHub links are in our submission and README.</a:t>
            </a:r>
          </a:p>
          <a:p>
            <a:pPr algn="ctr" marL="0" indent="0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Unofficial study tool. Not affiliated with or endorsed by Microsoft.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DAGLZHNHujU</dc:identifier>
  <dcterms:modified xsi:type="dcterms:W3CDTF">2011-08-01T06:04:30Z</dcterms:modified>
  <cp:revision>1</cp:revision>
  <dc:title>PLP Standard Pitch Deck Template</dc:title>
</cp:coreProperties>
</file>